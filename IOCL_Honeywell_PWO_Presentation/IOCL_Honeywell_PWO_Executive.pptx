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47920"/>
                </a:solidFill>
              </a:defRPr>
            </a:pPr>
            <a:r>
              <a:t>EXECUTIVE BRIEFING · 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From Local RTO Silos to</a:t>
            </a:r>
            <a:br/>
            <a:r>
              <a:t>Plantwide Dynamic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4C3D2"/>
                </a:solidFill>
              </a:defRPr>
            </a:pPr>
            <a:r>
              <a:t>Why Honeywell PWO + HPDT belong in every IOCL Honeywell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INDIAN OIL  ×  HONEYWELL FORGE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Refining &amp; Petrochemicals · Digital Optimization Strategy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3DA5"/>
                </a:solidFill>
              </a:defRPr>
            </a:pPr>
            <a:r>
              <a:t>What we will cover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097280" cy="54864"/>
          </a:xfrm>
          <a:prstGeom prst="rect">
            <a:avLst/>
          </a:prstGeom>
          <a:solidFill>
            <a:srgbClr val="F4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The profit gap between planning and the control room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Why unit-local RTO under-delivers at IOCL scale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Honeywell Plantwide Optimizer — Dynamic RTO architecture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Honeywell Process Digital Twin (HPDT) — model integrity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Template standard: end-to-end optimization stack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Investment logic &amp; recommended path for IOCL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828800"/>
            <a:ext cx="4572000" cy="1371600"/>
          </a:xfrm>
          <a:prstGeom prst="roundRect">
            <a:avLst/>
          </a:prstGeom>
          <a:solidFill>
            <a:srgbClr val="FFF8F0"/>
          </a:solidFill>
          <a:ln w="19050">
            <a:solidFill>
              <a:srgbClr val="F47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1400" b="1">
                <a:solidFill>
                  <a:srgbClr val="F47920"/>
                </a:solidFill>
              </a:defRPr>
            </a:pPr>
            <a:r>
              <a:t>90%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Of refinery time is NOT steady state — legacy RTO optimizes as if it were.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3474720"/>
            <a:ext cx="4572000" cy="1371600"/>
          </a:xfrm>
          <a:prstGeom prst="roundRect">
            <a:avLst/>
          </a:prstGeom>
          <a:solidFill>
            <a:srgbClr val="EBF2FF"/>
          </a:solidFill>
          <a:ln w="19050">
            <a:solidFill>
              <a:srgbClr val="003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1400" b="1">
                <a:solidFill>
                  <a:srgbClr val="003DA5"/>
                </a:solidFill>
              </a:defRPr>
            </a:pPr>
            <a:r>
              <a:t>1 → n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PWO coordinates the whole site through one dynamic optimization layer.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3DA5"/>
                </a:solidFill>
              </a:defRPr>
            </a:pPr>
            <a:r>
              <a:t>IOCL's optimization challenge is enterprise-scale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Multiple refineries · molecule management · volatile margins · sustainability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1097280" cy="54864"/>
          </a:xfrm>
          <a:prstGeom prst="rect">
            <a:avLst/>
          </a:prstGeom>
          <a:solidFill>
            <a:srgbClr val="F4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</a:defRPr>
            </a:pPr>
            <a:r>
              <a:t>LP / PIMS (hours–days)   →   GAP   →   Unit APC (minutes)   |   Local RTO (2–4 hr)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03120"/>
            <a:ext cx="2011680" cy="1005840"/>
          </a:xfrm>
          <a:prstGeom prst="roundRect">
            <a:avLst/>
          </a:prstGeom>
          <a:solidFill>
            <a:srgbClr val="003DA5"/>
          </a:solidFill>
          <a:ln>
            <a:solidFill>
              <a:srgbClr val="C8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Business LP</a:t>
            </a:r>
          </a:p>
          <a:p>
            <a:pPr algn="ctr">
              <a:defRPr sz="900">
                <a:solidFill>
                  <a:srgbClr val="DCE6F0"/>
                </a:solidFill>
              </a:defRPr>
            </a:pPr>
            <a:r>
              <a:t>Weekly plan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1920240"/>
            <a:ext cx="2377440" cy="1371600"/>
          </a:xfrm>
          <a:prstGeom prst="roundRect">
            <a:avLst/>
          </a:prstGeom>
          <a:solidFill>
            <a:srgbClr val="FF4757"/>
          </a:solidFill>
          <a:ln>
            <a:solidFill>
              <a:srgbClr val="C8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Disconnected</a:t>
            </a:r>
          </a:p>
          <a:p>
            <a:pPr algn="ctr">
              <a:defRPr sz="900">
                <a:solidFill>
                  <a:srgbClr val="DCE6F0"/>
                </a:solidFill>
              </a:defRPr>
            </a:pPr>
            <a:r>
              <a:t>Local RTO islands</a:t>
            </a:r>
            <a:br/>
            <a:r>
              <a:t>Duplicate models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103120"/>
            <a:ext cx="2011680" cy="1005840"/>
          </a:xfrm>
          <a:prstGeom prst="roundRect">
            <a:avLst/>
          </a:prstGeom>
          <a:solidFill>
            <a:srgbClr val="334155"/>
          </a:solidFill>
          <a:ln>
            <a:solidFill>
              <a:srgbClr val="C8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DCS / APC</a:t>
            </a:r>
          </a:p>
          <a:p>
            <a:pPr algn="ctr">
              <a:defRPr sz="900">
                <a:solidFill>
                  <a:srgbClr val="DCE6F0"/>
                </a:solidFill>
              </a:defRPr>
            </a:pPr>
            <a:r>
              <a:t>Real time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2606040"/>
            <a:ext cx="457200" cy="0"/>
          </a:xfrm>
          <a:prstGeom prst="line">
            <a:avLst/>
          </a:prstGeom>
          <a:ln w="25400">
            <a:solidFill>
              <a:srgbClr val="F4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0" y="2606040"/>
            <a:ext cx="822960" cy="0"/>
          </a:xfrm>
          <a:prstGeom prst="line">
            <a:avLst/>
          </a:prstGeom>
          <a:ln w="25400">
            <a:solidFill>
              <a:srgbClr val="F4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0292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47920"/>
                </a:solidFill>
              </a:defRPr>
            </a:pPr>
            <a:r>
              <a:t>Result: quality giveaway, off-spec during moves, planner vs operator mismatch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3DA5"/>
                </a:solidFill>
              </a:defRPr>
            </a:pPr>
            <a:r>
              <a:t>Traditional steady-state RTO — how it was built to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097280" cy="54864"/>
          </a:xfrm>
          <a:prstGeom prst="rect">
            <a:avLst/>
          </a:prstGeom>
          <a:solidFill>
            <a:srgbClr val="F4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</a:defRPr>
            </a:pPr>
            <a:r>
              <a:t>Large first-principles or rigorous simulation model per unit</a:t>
            </a:r>
          </a:p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</a:defRPr>
            </a:pPr>
            <a:r>
              <a:t>Solve economic optimum assuming steady state</a:t>
            </a:r>
          </a:p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</a:defRPr>
            </a:pPr>
            <a:r>
              <a:t>Execute every 2–4 hours; push setpoints / bounds to MPC</a:t>
            </a:r>
          </a:p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</a:defRPr>
            </a:pPr>
            <a:r>
              <a:t>Separate model team, APC team, and planner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2011680"/>
            <a:ext cx="5029200" cy="2011680"/>
          </a:xfrm>
          <a:prstGeom prst="roundRect">
            <a:avLst/>
          </a:prstGeom>
          <a:solidFill>
            <a:srgbClr val="FFF0F2"/>
          </a:solidFill>
          <a:ln w="19050">
            <a:solidFill>
              <a:srgbClr val="FF4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1400" b="1">
                <a:solidFill>
                  <a:srgbClr val="FF4757"/>
                </a:solidFill>
              </a:defRPr>
            </a:pPr>
            <a:r>
              <a:t>Designed for the 1990s operating model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Plants ran longer on stable feeds; optimization was a periodic advisory layer — not continuous profit execution.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Unit-local RTO at IOCL: diminishing returns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097280" cy="54864"/>
          </a:xfrm>
          <a:prstGeom prst="rect">
            <a:avLst/>
          </a:prstGeom>
          <a:solidFill>
            <a:srgbClr val="F4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00200"/>
          <a:ext cx="1124712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5577840"/>
              </a:tblGrid>
              <a:tr h="320039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Typical local RTO reality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Business impact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Duplicate models (RTO + APC + LP)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3× engineering &amp; maintenance cost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Optimizes one unit, ignores site balances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FCC vs hydrocracker vs blend conflicts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Inactive during transients &amp; grade changes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Off-spec on ~90% of operating time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18–24 month projects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Benefits erode before payback</a:t>
                      </a:r>
                    </a:p>
                  </a:txBody>
                  <a:tcPr/>
                </a:tc>
              </a:tr>
              <a:tr h="320044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Often OFF in operations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Sunk CAPEX, no sustained margin lift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0292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47920"/>
                </a:solidFill>
              </a:defRPr>
            </a:pPr>
            <a:r>
              <a:t>Executive view: Another local RTO without plantwide coordination is optimization SPEND, not optimization STRATEGY.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3DA5"/>
                </a:solidFill>
              </a:defRPr>
            </a:pPr>
            <a:r>
              <a:t>Total cost of ownership: local RTO vs PWO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Illustrative index — traditional per-unit RTO normalized to 100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1097280" cy="54864"/>
          </a:xfrm>
          <a:prstGeom prst="rect">
            <a:avLst/>
          </a:prstGeom>
          <a:solidFill>
            <a:srgbClr val="F4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Traditional local RTO (per major unit)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59152"/>
            <a:ext cx="5029200" cy="256032"/>
          </a:xfrm>
          <a:prstGeom prst="roundRect">
            <a:avLst/>
          </a:prstGeom>
          <a:solidFill>
            <a:srgbClr val="DCDC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359152"/>
            <a:ext cx="5029200" cy="256032"/>
          </a:xfrm>
          <a:prstGeom prst="roundRect">
            <a:avLst/>
          </a:prstGeom>
          <a:solidFill>
            <a:srgbClr val="FF4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231343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1E293B"/>
                </a:solidFill>
              </a:defRPr>
            </a:pPr>
            <a: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Rigorous model build &amp; validation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Ongoing mismatch with APC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Limited cross-unit coordination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011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PWO dynamic layer (site scope)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359152"/>
            <a:ext cx="5029200" cy="256032"/>
          </a:xfrm>
          <a:prstGeom prst="roundRect">
            <a:avLst/>
          </a:prstGeom>
          <a:solidFill>
            <a:srgbClr val="DCDC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0" y="2359152"/>
            <a:ext cx="1760220" cy="256032"/>
          </a:xfrm>
          <a:prstGeom prst="round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0" y="231343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1E293B"/>
                </a:solidFill>
              </a:defRPr>
            </a:pPr>
            <a:r>
              <a:t>35%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8346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Reuses APC dynamics &amp; planning yields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Proxy limits — no duplicate constraints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One optimization narrative for operations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754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</a:defRPr>
            </a:pPr>
            <a:r>
              <a:t>Honeywell evidence: dynamic optimization delivers traditional RTO economics with dramatically lower modeling effort.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Hydrocarbon Processing 2022 — Best Automation 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Honeywell Plantwide Optimizer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E6E6"/>
                </a:solidFill>
              </a:defRPr>
            </a:pPr>
            <a:r>
              <a:t>Dynamic Real-Time Optimization — a different control architecture, not a bigger steady-state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2606040" cy="594360"/>
          </a:xfrm>
          <a:prstGeom prst="roundRect">
            <a:avLst/>
          </a:prstGeom>
          <a:solidFill>
            <a:srgbClr val="B4001E"/>
          </a:solidFill>
          <a:ln>
            <a:solidFill>
              <a:srgbClr val="C8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Runs ~every minute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39" y="4114800"/>
            <a:ext cx="2606040" cy="594360"/>
          </a:xfrm>
          <a:prstGeom prst="roundRect">
            <a:avLst/>
          </a:prstGeom>
          <a:solidFill>
            <a:srgbClr val="B4001E"/>
          </a:solidFill>
          <a:ln>
            <a:solidFill>
              <a:srgbClr val="C8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Dynamic models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59" y="4114800"/>
            <a:ext cx="2606040" cy="594360"/>
          </a:xfrm>
          <a:prstGeom prst="roundRect">
            <a:avLst/>
          </a:prstGeom>
          <a:solidFill>
            <a:srgbClr val="B4001E"/>
          </a:solidFill>
          <a:ln>
            <a:solidFill>
              <a:srgbClr val="C8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Planning-aligned economics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0" y="4114800"/>
            <a:ext cx="2606040" cy="594360"/>
          </a:xfrm>
          <a:prstGeom prst="roundRect">
            <a:avLst/>
          </a:prstGeom>
          <a:solidFill>
            <a:srgbClr val="B4001E"/>
          </a:solidFill>
          <a:ln>
            <a:solidFill>
              <a:srgbClr val="C8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Proxy limits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3DA5"/>
                </a:solidFill>
              </a:defRPr>
            </a:pPr>
            <a:r>
              <a:t>PWO architecture: 1 primary MPC → n unit APCs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097280" cy="54864"/>
          </a:xfrm>
          <a:prstGeom prst="rect">
            <a:avLst/>
          </a:prstGeom>
          <a:solidFill>
            <a:srgbClr val="F4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737360"/>
            <a:ext cx="1828800" cy="685800"/>
          </a:xfrm>
          <a:prstGeom prst="roundRect">
            <a:avLst/>
          </a:prstGeom>
          <a:solidFill>
            <a:srgbClr val="003DA5"/>
          </a:solidFill>
          <a:ln>
            <a:solidFill>
              <a:srgbClr val="C8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LP / PIMS</a:t>
            </a:r>
          </a:p>
          <a:p>
            <a:pPr algn="ctr">
              <a:defRPr sz="900">
                <a:solidFill>
                  <a:srgbClr val="DCE6F0"/>
                </a:solidFill>
              </a:defRPr>
            </a:pPr>
            <a:r>
              <a:t>Economics &amp; yields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00200"/>
            <a:ext cx="5212080" cy="868680"/>
          </a:xfrm>
          <a:prstGeom prst="roundRect">
            <a:avLst/>
          </a:prstGeom>
          <a:solidFill>
            <a:srgbClr val="E60028"/>
          </a:solidFill>
          <a:ln>
            <a:solidFill>
              <a:srgbClr val="C8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PLANTWIDE OPTIMIZER (Dynamic RTO)</a:t>
            </a:r>
          </a:p>
          <a:p>
            <a:pPr algn="ctr">
              <a:defRPr sz="900">
                <a:solidFill>
                  <a:srgbClr val="DCE6F0"/>
                </a:solidFill>
              </a:defRPr>
            </a:pPr>
            <a:r>
              <a:t>Planning yields · site balances · inventories · quality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1920240"/>
            <a:ext cx="1188720" cy="0"/>
          </a:xfrm>
          <a:prstGeom prst="line">
            <a:avLst/>
          </a:prstGeom>
          <a:ln w="25400">
            <a:solidFill>
              <a:srgbClr val="F4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31520" y="3017520"/>
            <a:ext cx="3200400" cy="822960"/>
          </a:xfrm>
          <a:prstGeom prst="roundRect">
            <a:avLst/>
          </a:prstGeom>
          <a:solidFill>
            <a:srgbClr val="334155"/>
          </a:solidFill>
          <a:ln>
            <a:solidFill>
              <a:srgbClr val="C8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CDU / VDU APC</a:t>
            </a:r>
          </a:p>
          <a:p>
            <a:pPr algn="ctr">
              <a:defRPr sz="900">
                <a:solidFill>
                  <a:srgbClr val="DCE6F0"/>
                </a:solidFill>
              </a:defRPr>
            </a:pPr>
            <a:r>
              <a:t>Proxy limits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1874519" y="2468880"/>
            <a:ext cx="4206241" cy="548640"/>
          </a:xfrm>
          <a:prstGeom prst="line">
            <a:avLst/>
          </a:prstGeom>
          <a:ln w="25400">
            <a:solidFill>
              <a:srgbClr val="F4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480559" y="3017520"/>
            <a:ext cx="3200400" cy="822960"/>
          </a:xfrm>
          <a:prstGeom prst="roundRect">
            <a:avLst/>
          </a:prstGeom>
          <a:solidFill>
            <a:srgbClr val="334155"/>
          </a:solidFill>
          <a:ln>
            <a:solidFill>
              <a:srgbClr val="C8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FCC / Coker APC</a:t>
            </a:r>
          </a:p>
          <a:p>
            <a:pPr algn="ctr">
              <a:defRPr sz="900">
                <a:solidFill>
                  <a:srgbClr val="DCE6F0"/>
                </a:solidFill>
              </a:defRPr>
            </a:pPr>
            <a:r>
              <a:t>Proxy limits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5623559" y="2468880"/>
            <a:ext cx="457201" cy="548640"/>
          </a:xfrm>
          <a:prstGeom prst="line">
            <a:avLst/>
          </a:prstGeom>
          <a:ln w="25400">
            <a:solidFill>
              <a:srgbClr val="F4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229600" y="3017520"/>
            <a:ext cx="3200400" cy="822960"/>
          </a:xfrm>
          <a:prstGeom prst="roundRect">
            <a:avLst/>
          </a:prstGeom>
          <a:solidFill>
            <a:srgbClr val="334155"/>
          </a:solidFill>
          <a:ln>
            <a:solidFill>
              <a:srgbClr val="C8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Hydro / Reforming</a:t>
            </a:r>
          </a:p>
          <a:p>
            <a:pPr algn="ctr">
              <a:defRPr sz="900">
                <a:solidFill>
                  <a:srgbClr val="DCE6F0"/>
                </a:solidFill>
              </a:defRPr>
            </a:pPr>
            <a:r>
              <a:t>Proxy limits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80760" y="2468880"/>
            <a:ext cx="3291840" cy="548640"/>
          </a:xfrm>
          <a:prstGeom prst="line">
            <a:avLst/>
          </a:prstGeom>
          <a:ln w="25400">
            <a:solidFill>
              <a:srgbClr val="F4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286000" y="4206240"/>
            <a:ext cx="7589520" cy="685800"/>
          </a:xfrm>
          <a:prstGeom prst="roundRect">
            <a:avLst/>
          </a:prstGeom>
          <a:solidFill>
            <a:srgbClr val="475569"/>
          </a:solidFill>
          <a:ln>
            <a:solidFill>
              <a:srgbClr val="C8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DCS · Blend Optimizer · Analyzers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120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</a:defRPr>
            </a:pPr>
            <a:r>
              <a:t>PWO inherits the planner's structure; APC retains constraint fidelity — no need to replicate every valve at site level.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3DA5"/>
                </a:solidFill>
              </a:defRPr>
            </a:pPr>
            <a:r>
              <a:t>Dynamic RTO vs traditional RTO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097280" cy="54864"/>
          </a:xfrm>
          <a:prstGeom prst="rect">
            <a:avLst/>
          </a:prstGeom>
          <a:solidFill>
            <a:srgbClr val="F4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691640"/>
            <a:ext cx="5029200" cy="2926080"/>
          </a:xfrm>
          <a:prstGeom prst="roundRect">
            <a:avLst/>
          </a:prstGeom>
          <a:solidFill>
            <a:srgbClr val="FFF5F5"/>
          </a:solidFill>
          <a:ln w="19050">
            <a:solidFill>
              <a:srgbClr val="FF4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1400" b="1">
                <a:solidFill>
                  <a:srgbClr val="FF4757"/>
                </a:solidFill>
              </a:defRPr>
            </a:pPr>
            <a:r>
              <a:t>Traditional RTO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Wait for steady state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2–4 hour execution cycle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Steady-state simulation core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Per-unit scope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Heavy model maintenance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274320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64748B"/>
                </a:solidFill>
              </a:defRPr>
            </a:pPr>
            <a:r>
              <a:t>VS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91640"/>
            <a:ext cx="5303520" cy="2926080"/>
          </a:xfrm>
          <a:prstGeom prst="roundRect">
            <a:avLst/>
          </a:prstGeom>
          <a:solidFill>
            <a:srgbClr val="E6FFF8"/>
          </a:solidFill>
          <a:ln w="1905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1400" b="1">
                <a:solidFill>
                  <a:srgbClr val="00C896"/>
                </a:solidFill>
              </a:defRPr>
            </a:pPr>
            <a:r>
              <a:t>PWO Dynamic RTO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583680" y="214884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Optimize during moves &amp; disturbances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~1 minute coordination cycle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Leverages live APC dynamic models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Full site / train scope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Gain matrix from plan +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46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DA5"/>
                </a:solidFill>
              </a:defRPr>
            </a:pPr>
            <a:r>
              <a:t>~50% reduction in off-spec during transients (literature &amp; Honeywell deployments)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3DA5"/>
                </a:solidFill>
              </a:defRPr>
            </a:pPr>
            <a:r>
              <a:t>Patented proxy limits — feasibility without model bloat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097280" cy="54864"/>
          </a:xfrm>
          <a:prstGeom prst="rect">
            <a:avLst/>
          </a:prstGeom>
          <a:solidFill>
            <a:srgbClr val="F4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</a:defRPr>
            </a:pPr>
            <a:r>
              <a:t>APC calculates feasible envelope on demand</a:t>
            </a:r>
          </a:p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</a:defRPr>
            </a:pPr>
            <a:r>
              <a:t>PWO sees aggregated limits — not thousands of inner constraints</a:t>
            </a:r>
          </a:p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</a:defRPr>
            </a:pPr>
            <a:r>
              <a:t>APC model updates automatically flow to optimization</a:t>
            </a:r>
          </a:p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</a:defRPr>
            </a:pPr>
            <a:r>
              <a:t>Smaller problem → faster solve → operator-trusted moves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0" y="2560320"/>
            <a:ext cx="2011680" cy="1097280"/>
          </a:xfrm>
          <a:prstGeom prst="roundRect">
            <a:avLst/>
          </a:prstGeom>
          <a:solidFill>
            <a:srgbClr val="003DA5"/>
          </a:solidFill>
          <a:ln>
            <a:solidFill>
              <a:srgbClr val="C8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PWO</a:t>
            </a:r>
          </a:p>
          <a:p>
            <a:pPr algn="ctr">
              <a:defRPr sz="900">
                <a:solidFill>
                  <a:srgbClr val="DCE6F0"/>
                </a:solidFill>
              </a:defRPr>
            </a:pPr>
            <a:r>
              <a:t>Site objective</a:t>
            </a:r>
          </a:p>
        </p:txBody>
      </p:sp>
      <p:sp>
        <p:nvSpPr>
          <p:cNvPr id="7" name="Oval 6"/>
          <p:cNvSpPr/>
          <p:nvPr/>
        </p:nvSpPr>
        <p:spPr>
          <a:xfrm>
            <a:off x="9052560" y="1737360"/>
            <a:ext cx="822960" cy="822960"/>
          </a:xfrm>
          <a:prstGeom prst="ellipse">
            <a:avLst/>
          </a:prstGeom>
          <a:solidFill>
            <a:srgbClr val="C8FFEB"/>
          </a:solidFill>
          <a:ln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APC</a:t>
            </a:r>
          </a:p>
        </p:txBody>
      </p:sp>
      <p:sp>
        <p:nvSpPr>
          <p:cNvPr id="8" name="Oval 7"/>
          <p:cNvSpPr/>
          <p:nvPr/>
        </p:nvSpPr>
        <p:spPr>
          <a:xfrm>
            <a:off x="7498079" y="4114800"/>
            <a:ext cx="822960" cy="822960"/>
          </a:xfrm>
          <a:prstGeom prst="ellipse">
            <a:avLst/>
          </a:prstGeom>
          <a:solidFill>
            <a:srgbClr val="C8FFEB"/>
          </a:solidFill>
          <a:ln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APC</a:t>
            </a:r>
          </a:p>
        </p:txBody>
      </p:sp>
      <p:sp>
        <p:nvSpPr>
          <p:cNvPr id="9" name="Oval 8"/>
          <p:cNvSpPr/>
          <p:nvPr/>
        </p:nvSpPr>
        <p:spPr>
          <a:xfrm>
            <a:off x="9692640" y="4114800"/>
            <a:ext cx="822960" cy="822960"/>
          </a:xfrm>
          <a:prstGeom prst="ellipse">
            <a:avLst/>
          </a:prstGeom>
          <a:solidFill>
            <a:srgbClr val="C8FFEB"/>
          </a:solidFill>
          <a:ln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APC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Honeywell Process Digital Twin (HPDT)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EC8"/>
                </a:solidFill>
              </a:defRPr>
            </a:pPr>
            <a:r>
              <a:t>Keeps planning, optimization, and reality aligned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1097280" cy="54864"/>
          </a:xfrm>
          <a:prstGeom prst="rect">
            <a:avLst/>
          </a:prstGeom>
          <a:solidFill>
            <a:srgbClr val="F4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6217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E6EBF5"/>
                </a:solidFill>
              </a:defRPr>
            </a:pPr>
            <a:r>
              <a:t>Online simulation &amp; scenarios tied to live plant data</a:t>
            </a:r>
          </a:p>
          <a:p>
            <a:pPr>
              <a:spcAft>
                <a:spcPts val="800"/>
              </a:spcAft>
              <a:defRPr sz="1600">
                <a:solidFill>
                  <a:srgbClr val="E6EBF5"/>
                </a:solidFill>
              </a:defRPr>
            </a:pPr>
            <a:r>
              <a:t>Validates yield vectors before they enter PWO</a:t>
            </a:r>
          </a:p>
          <a:p>
            <a:pPr>
              <a:spcAft>
                <a:spcPts val="800"/>
              </a:spcAft>
              <a:defRPr sz="1600">
                <a:solidFill>
                  <a:srgbClr val="E6EBF5"/>
                </a:solidFill>
              </a:defRPr>
            </a:pPr>
            <a:r>
              <a:t>Supports APC lifecycle (what-if, debottleneck, training)</a:t>
            </a:r>
          </a:p>
          <a:p>
            <a:pPr>
              <a:spcAft>
                <a:spcPts val="800"/>
              </a:spcAft>
              <a:defRPr sz="1600">
                <a:solidFill>
                  <a:srgbClr val="E6EBF5"/>
                </a:solidFill>
              </a:defRPr>
            </a:pPr>
            <a:r>
              <a:t>Closes the loop: LP assumptions ↔ actual unit capability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2103120"/>
            <a:ext cx="4754880" cy="2560320"/>
          </a:xfrm>
          <a:prstGeom prst="roundRect">
            <a:avLst/>
          </a:prstGeom>
          <a:solidFill>
            <a:srgbClr val="143246"/>
          </a:solidFill>
          <a:ln w="1905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1400" b="1">
                <a:solidFill>
                  <a:srgbClr val="00C896"/>
                </a:solidFill>
              </a:defRPr>
            </a:pPr>
            <a:r>
              <a:t>HPDT + PWO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Digital twin = trusted model estate</a:t>
            </a:r>
            <a:br/>
            <a:r>
              <a:t>PWO = continuous profit execution</a:t>
            </a:r>
            <a:br/>
            <a:r>
              <a:t>Together: replace ad-hoc RTO rebuilds every turnaround.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3DA5"/>
                </a:solidFill>
              </a:defRPr>
            </a:pPr>
            <a:r>
              <a:t>Must-have in the Honeywell Template for IOCL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Standardize the full stack — not à la carte APC projects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1097280" cy="54864"/>
          </a:xfrm>
          <a:prstGeom prst="rect">
            <a:avLst/>
          </a:prstGeom>
          <a:solidFill>
            <a:srgbClr val="F4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1691640" cy="640080"/>
          </a:xfrm>
          <a:prstGeom prst="roundRect">
            <a:avLst/>
          </a:prstGeom>
          <a:solidFill>
            <a:srgbClr val="003DA5"/>
          </a:solidFill>
          <a:ln>
            <a:solidFill>
              <a:srgbClr val="C8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Experion/DCS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31720" y="1600200"/>
            <a:ext cx="1691640" cy="640080"/>
          </a:xfrm>
          <a:prstGeom prst="roundRect">
            <a:avLst/>
          </a:prstGeom>
          <a:solidFill>
            <a:srgbClr val="003DA5"/>
          </a:solidFill>
          <a:ln>
            <a:solidFill>
              <a:srgbClr val="C8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Forge APC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600200"/>
            <a:ext cx="1691640" cy="640080"/>
          </a:xfrm>
          <a:prstGeom prst="roundRect">
            <a:avLst/>
          </a:prstGeom>
          <a:solidFill>
            <a:srgbClr val="E60028"/>
          </a:solidFill>
          <a:ln>
            <a:solidFill>
              <a:srgbClr val="C8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PWO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59" y="1600200"/>
            <a:ext cx="1691640" cy="640080"/>
          </a:xfrm>
          <a:prstGeom prst="roundRect">
            <a:avLst/>
          </a:prstGeom>
          <a:solidFill>
            <a:srgbClr val="00C896"/>
          </a:solidFill>
          <a:ln>
            <a:solidFill>
              <a:srgbClr val="C8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HPDT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600200"/>
            <a:ext cx="1691640" cy="640080"/>
          </a:xfrm>
          <a:prstGeom prst="roundRect">
            <a:avLst/>
          </a:prstGeom>
          <a:solidFill>
            <a:srgbClr val="003DA5"/>
          </a:solidFill>
          <a:ln>
            <a:solidFill>
              <a:srgbClr val="C8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Blend Opt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1600200"/>
            <a:ext cx="1691640" cy="640080"/>
          </a:xfrm>
          <a:prstGeom prst="roundRect">
            <a:avLst/>
          </a:prstGeom>
          <a:solidFill>
            <a:srgbClr val="003DA5"/>
          </a:solidFill>
          <a:ln>
            <a:solidFill>
              <a:srgbClr val="C8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CPA-U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468880"/>
          <a:ext cx="1124712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114800"/>
                <a:gridCol w="4572000"/>
              </a:tblGrid>
              <a:tr h="3200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Without it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Unit APC (Forge)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Constraint control &amp; dynamic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PWO has nothing to coordinate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PWO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Site dynamic RTO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Local RTO silos return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HPDT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Model governance &amp; scenarios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Stale yields, failed revamps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Blend Optimizer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Gate-to-gate quality &amp; inventory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Loss at rundown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3DA5"/>
                </a:solidFill>
              </a:defRPr>
            </a:pPr>
            <a:r>
              <a:t>Proven in refining — relevant to IOCL complexity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097280" cy="54864"/>
          </a:xfrm>
          <a:prstGeom prst="rect">
            <a:avLst/>
          </a:prstGeom>
          <a:solidFill>
            <a:srgbClr val="F4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691640"/>
            <a:ext cx="5486400" cy="1828800"/>
          </a:xfrm>
          <a:prstGeom prst="roundRect">
            <a:avLst/>
          </a:prstGeom>
          <a:solidFill>
            <a:srgbClr val="F5F8FF"/>
          </a:solidFill>
          <a:ln w="19050">
            <a:solidFill>
              <a:srgbClr val="003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1400" b="1">
                <a:solidFill>
                  <a:srgbClr val="003DA5"/>
                </a:solidFill>
              </a:defRPr>
            </a:pPr>
            <a:r>
              <a:t>Hellenic Petroleum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Dynamic coordination — payback &lt; 1 year cited; margin improvements.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1691640"/>
            <a:ext cx="5486400" cy="1828800"/>
          </a:xfrm>
          <a:prstGeom prst="roundRect">
            <a:avLst/>
          </a:prstGeom>
          <a:solidFill>
            <a:srgbClr val="F5F8FF"/>
          </a:solidFill>
          <a:ln w="19050">
            <a:solidFill>
              <a:srgbClr val="003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1400" b="1">
                <a:solidFill>
                  <a:srgbClr val="003DA5"/>
                </a:solidFill>
              </a:defRPr>
            </a:pPr>
            <a:r>
              <a:t>SECCO (ethylene)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Reuses APC dynamics; naphtha feed +1.27% after revamp.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40480"/>
            <a:ext cx="5486400" cy="1828800"/>
          </a:xfrm>
          <a:prstGeom prst="roundRect">
            <a:avLst/>
          </a:prstGeom>
          <a:solidFill>
            <a:srgbClr val="F5F8FF"/>
          </a:solidFill>
          <a:ln w="19050">
            <a:solidFill>
              <a:srgbClr val="003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1400" b="1">
                <a:solidFill>
                  <a:srgbClr val="003DA5"/>
                </a:solidFill>
              </a:defRPr>
            </a:pPr>
            <a:r>
              <a:t>Literature (FCC DRTO)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Higher objective during disturbances — IOCL FCC prime candidates.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3840480"/>
            <a:ext cx="5486400" cy="1828800"/>
          </a:xfrm>
          <a:prstGeom prst="roundRect">
            <a:avLst/>
          </a:prstGeom>
          <a:solidFill>
            <a:srgbClr val="F5F8FF"/>
          </a:solidFill>
          <a:ln w="19050">
            <a:solidFill>
              <a:srgbClr val="003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1400" b="1">
                <a:solidFill>
                  <a:srgbClr val="003DA5"/>
                </a:solidFill>
              </a:defRPr>
            </a:pPr>
            <a:r>
              <a:t>IOCL opportunity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Coordinate crude, intermediates, blend once — not per-unit RTO battles.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3DA5"/>
                </a:solidFill>
              </a:defRPr>
            </a:pPr>
            <a:r>
              <a:t>What IOCL gains with PWO + HPDT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097280" cy="54864"/>
          </a:xfrm>
          <a:prstGeom prst="rect">
            <a:avLst/>
          </a:prstGeom>
          <a:solidFill>
            <a:srgbClr val="F4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737360"/>
            <a:ext cx="3566160" cy="548640"/>
          </a:xfrm>
          <a:prstGeom prst="roundRect">
            <a:avLst/>
          </a:prstGeom>
          <a:solidFill>
            <a:srgbClr val="F47920"/>
          </a:solidFill>
          <a:ln>
            <a:solidFill>
              <a:srgbClr val="C8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₹ margin per barrel — sustained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737360"/>
            <a:ext cx="3566160" cy="548640"/>
          </a:xfrm>
          <a:prstGeom prst="roundRect">
            <a:avLst/>
          </a:prstGeom>
          <a:solidFill>
            <a:srgbClr val="F47920"/>
          </a:solidFill>
          <a:ln>
            <a:solidFill>
              <a:srgbClr val="C8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Reduced quality giveaway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737360"/>
            <a:ext cx="3566160" cy="548640"/>
          </a:xfrm>
          <a:prstGeom prst="roundRect">
            <a:avLst/>
          </a:prstGeom>
          <a:solidFill>
            <a:srgbClr val="F47920"/>
          </a:solidFill>
          <a:ln>
            <a:solidFill>
              <a:srgbClr val="C8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Faster crude/margin response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514600"/>
            <a:ext cx="3566160" cy="548640"/>
          </a:xfrm>
          <a:prstGeom prst="roundRect">
            <a:avLst/>
          </a:prstGeom>
          <a:solidFill>
            <a:srgbClr val="F47920"/>
          </a:solidFill>
          <a:ln>
            <a:solidFill>
              <a:srgbClr val="C8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Lower optimization OPEX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514600"/>
            <a:ext cx="3566160" cy="548640"/>
          </a:xfrm>
          <a:prstGeom prst="roundRect">
            <a:avLst/>
          </a:prstGeom>
          <a:solidFill>
            <a:srgbClr val="F47920"/>
          </a:solidFill>
          <a:ln>
            <a:solidFill>
              <a:srgbClr val="C8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Standard Honeywell delivery playbook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E293B"/>
                </a:solidFill>
              </a:defRPr>
            </a:pPr>
            <a:r>
              <a:t>Replace multiple local RTO capital requests with ONE template-based plantwide program per refinery — integrated with existing Forge APC.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Executive decision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097280" cy="54864"/>
          </a:xfrm>
          <a:prstGeom prst="rect">
            <a:avLst/>
          </a:prstGeom>
          <a:solidFill>
            <a:srgbClr val="F4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554480"/>
          <a:ext cx="1133856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5669280"/>
              </a:tblGrid>
              <a:tr h="3200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Option A — Local RTO proliferation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Option B — Template (PWO + HPDT)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High CAPEX per unit, overlapping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✓ Single site optimization layer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Benefits isolated to one 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✓ Crude-to-blend coordination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Frequent model 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✓ Proxy limits + CPA-U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Planner ↔ operations friction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✓ LP structure in real time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709160"/>
            <a:ext cx="11155680" cy="1234440"/>
          </a:xfrm>
          <a:prstGeom prst="round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Recommendation: Mandate PWO and HPDT as non-optional in IOCL Honeywell Templates.</a:t>
            </a:r>
          </a:p>
          <a:p>
            <a:pPr algn="ctr">
              <a:defRPr sz="1200">
                <a:solidFill>
                  <a:srgbClr val="C8D7EB"/>
                </a:solidFill>
              </a:defRPr>
            </a:pPr>
            <a:r>
              <a:t>Defer standalone local RTO expansions — route investment to plantwide dynamic optimization.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3DA5"/>
                </a:solidFill>
              </a:defRPr>
            </a:pPr>
            <a:r>
              <a:t>Proposed IOCL rollout (template-based)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097280" cy="54864"/>
          </a:xfrm>
          <a:prstGeom prst="rect">
            <a:avLst/>
          </a:prstGeom>
          <a:solidFill>
            <a:srgbClr val="F4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1920240"/>
            <a:ext cx="411480" cy="411480"/>
          </a:xfrm>
          <a:prstGeom prst="ellipse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24688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293B"/>
                </a:solidFill>
              </a:defRPr>
            </a:pPr>
            <a: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7889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APC baseline + CPA-U</a:t>
            </a:r>
          </a:p>
        </p:txBody>
      </p:sp>
      <p:sp>
        <p:nvSpPr>
          <p:cNvPr id="8" name="Oval 7"/>
          <p:cNvSpPr/>
          <p:nvPr/>
        </p:nvSpPr>
        <p:spPr>
          <a:xfrm>
            <a:off x="3337560" y="1920240"/>
            <a:ext cx="411480" cy="411480"/>
          </a:xfrm>
          <a:prstGeom prst="ellipse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97480" y="24688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293B"/>
                </a:solidFill>
              </a:defRPr>
            </a:pPr>
            <a:r>
              <a:t>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27889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HPDT model alignment</a:t>
            </a:r>
          </a:p>
        </p:txBody>
      </p:sp>
      <p:sp>
        <p:nvSpPr>
          <p:cNvPr id="11" name="Oval 10"/>
          <p:cNvSpPr/>
          <p:nvPr/>
        </p:nvSpPr>
        <p:spPr>
          <a:xfrm>
            <a:off x="5623560" y="1920240"/>
            <a:ext cx="411480" cy="411480"/>
          </a:xfrm>
          <a:prstGeom prst="ellipse">
            <a:avLst/>
          </a:prstGeom>
          <a:solidFill>
            <a:srgbClr val="E6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24688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293B"/>
                </a:solidFill>
              </a:defRPr>
            </a:pPr>
            <a:r>
              <a:t>Phase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27889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PWO live — 1 refinery</a:t>
            </a:r>
          </a:p>
        </p:txBody>
      </p:sp>
      <p:sp>
        <p:nvSpPr>
          <p:cNvPr id="14" name="Oval 13"/>
          <p:cNvSpPr/>
          <p:nvPr/>
        </p:nvSpPr>
        <p:spPr>
          <a:xfrm>
            <a:off x="7909560" y="1920240"/>
            <a:ext cx="411480" cy="411480"/>
          </a:xfrm>
          <a:prstGeom prst="ellipse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9480" y="24688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293B"/>
                </a:solidFill>
              </a:defRPr>
            </a:pPr>
            <a:r>
              <a:t>Phase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27889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Blend gate-to-gate</a:t>
            </a:r>
          </a:p>
        </p:txBody>
      </p:sp>
      <p:sp>
        <p:nvSpPr>
          <p:cNvPr id="17" name="Oval 16"/>
          <p:cNvSpPr/>
          <p:nvPr/>
        </p:nvSpPr>
        <p:spPr>
          <a:xfrm>
            <a:off x="10195560" y="1920240"/>
            <a:ext cx="411480" cy="411480"/>
          </a:xfrm>
          <a:prstGeom prst="ellipse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24688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293B"/>
                </a:solidFill>
              </a:defRPr>
            </a:pPr>
            <a:r>
              <a:t>Phase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55480" y="27889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Replicate nationally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2121408"/>
            <a:ext cx="9601200" cy="36576"/>
          </a:xfrm>
          <a:prstGeom prst="rect">
            <a:avLst/>
          </a:prstGeom>
          <a:solidFill>
            <a:srgbClr val="F4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1148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</a:defRPr>
            </a:pPr>
            <a:r>
              <a:t>Pilot: highest intermediate-pool complexity + existing Forge APC = fastest time-to-value.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Optimize the plant,</a:t>
            </a:r>
            <a:br/>
            <a:r>
              <a:t>not the project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47920"/>
                </a:solidFill>
              </a:defRPr>
            </a:pPr>
            <a:r>
              <a:t>Plantwide Dynamic RTO · Honeywell PWO · HPDT in every IOCL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INDIAN OIL  ·  HONEYWELL PROCESS SOLUTIONS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