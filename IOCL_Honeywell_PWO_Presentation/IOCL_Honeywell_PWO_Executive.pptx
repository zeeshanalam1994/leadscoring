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Plantwide Dynamic RTO for IOCL</a:t>
            </a:r>
          </a:p>
          <a:p>
            <a:pPr>
              <a:defRPr sz="2000">
                <a:solidFill>
                  <a:srgbClr val="F47920"/>
                </a:solidFill>
              </a:defRPr>
            </a:pPr>
            <a:r>
              <a:t>Honeywell PWO + HPDT | 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DA5"/>
                </a:solidFill>
              </a:defRPr>
            </a:pPr>
            <a: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LP planning (hours/days) is not synchronized with DCS/APC (minutes).</a:t>
            </a:r>
          </a:p>
          <a:p>
            <a:pPr>
              <a:defRPr sz="1800"/>
            </a:pPr>
            <a:r>
              <a:t>Unit-local RTO runs on 2–4 hour steady-state cycles.</a:t>
            </a:r>
          </a:p>
          <a:p>
            <a:pPr>
              <a:defRPr sz="1800"/>
            </a:pPr>
            <a:r>
              <a:t>Result: giveaway, off-spec on transients, planner vs operator mismatch.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DA5"/>
                </a:solidFill>
              </a:defRPr>
            </a:pPr>
            <a:r>
              <a:t>Why local RTO is poor ROI at IOCL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Duplicate models: RTO + APC + LP — 3× maintenance.</a:t>
            </a:r>
          </a:p>
          <a:p>
            <a:pPr>
              <a:defRPr sz="1800"/>
            </a:pPr>
            <a:r>
              <a:t>Single-unit scope ignores FCC/hydro/blend pool tradeoffs.</a:t>
            </a:r>
          </a:p>
          <a:p>
            <a:pPr>
              <a:defRPr sz="1800"/>
            </a:pPr>
            <a:r>
              <a:t>Inactive during grade changes (~90% of operating time).</a:t>
            </a:r>
          </a:p>
          <a:p>
            <a:pPr>
              <a:defRPr sz="1800"/>
            </a:pPr>
            <a:r>
              <a:t>18–24 month projects; benefits often erode before sustained use.</a:t>
            </a:r>
          </a:p>
          <a:p>
            <a:pPr>
              <a:defRPr sz="1800"/>
            </a:pPr>
            <a:r>
              <a:t>Executive view: another local RTO license ≠ optimization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DA5"/>
                </a:solidFill>
              </a:defRPr>
            </a:pPr>
            <a:r>
              <a:t>Honeywell Plantwide Optimizer (Dynamic RTO)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1→n MPC cascade: site optimizer over unit Forge APC applications.</a:t>
            </a:r>
          </a:p>
          <a:p>
            <a:pPr>
              <a:defRPr sz="1800"/>
            </a:pPr>
            <a:r>
              <a:t>Dynamic models — execute ~every minute, not only at steady state.</a:t>
            </a:r>
          </a:p>
          <a:p>
            <a:pPr>
              <a:defRPr sz="1800"/>
            </a:pPr>
            <a:r>
              <a:t>Inherits planning yield model &amp; economics; proxy limits from APC.</a:t>
            </a:r>
          </a:p>
          <a:p>
            <a:pPr>
              <a:defRPr sz="1800"/>
            </a:pPr>
            <a:r>
              <a:t>HP 2022 Best Automation Technology; gate-to-gate with Blend Optimizer.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DA5"/>
                </a:solidFill>
              </a:defRPr>
            </a:pPr>
            <a:r>
              <a:t>HPDT + Honeywell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HPDT: online digital twin — align LP yields with actual unit capability.</a:t>
            </a:r>
          </a:p>
          <a:p>
            <a:pPr>
              <a:defRPr sz="1800"/>
            </a:pPr>
            <a:r>
              <a:t>Template must-haves: Forge APC → PWO → HPDT → Blend → CPA-U.</a:t>
            </a:r>
          </a:p>
          <a:p>
            <a:pPr>
              <a:defRPr sz="1800"/>
            </a:pPr>
            <a:r>
              <a:t>Mandate PWO + HPDT; defer standalone local RTO expansions.</a:t>
            </a:r>
          </a:p>
          <a:p>
            <a:pPr>
              <a:defRPr sz="1800"/>
            </a:pPr>
            <a:r>
              <a:t>Phased rollout: APC baseline → HPDT → PWO pilot → national replicate.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Optimize the plant, not the project portfolio</a:t>
            </a:r>
          </a:p>
          <a:p>
            <a:pPr>
              <a:defRPr sz="2000">
                <a:solidFill>
                  <a:srgbClr val="F47920"/>
                </a:solidFill>
              </a:defRPr>
            </a:pPr>
            <a:r>
              <a:t>Contact Honeywell Process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